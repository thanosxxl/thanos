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8" Type="http://schemas.openxmlformats.org/officeDocument/2006/relationships/slide" Target="slide4.xml"/><Relationship Id="rId9" Type="http://schemas.openxmlformats.org/officeDocument/2006/relationships/slide" Target="slide4.xml"/><Relationship Id="rId10" Type="http://schemas.openxmlformats.org/officeDocument/2006/relationships/slide" Target="slide5.xml"/><Relationship Id="rId12" Type="http://schemas.openxmlformats.org/officeDocument/2006/relationships/slide" Target="slide5.xml"/><Relationship Id="rId13" Type="http://schemas.openxmlformats.org/officeDocument/2006/relationships/slide" Target="slide5.xml"/><Relationship Id="rId14" Type="http://schemas.openxmlformats.org/officeDocument/2006/relationships/slide" Target="slide6.xml"/><Relationship Id="rId16" Type="http://schemas.openxmlformats.org/officeDocument/2006/relationships/slide" Target="slide6.xml"/><Relationship Id="rId17" Type="http://schemas.openxmlformats.org/officeDocument/2006/relationships/slide" Target="slide6.xml"/><Relationship Id="rId18" Type="http://schemas.openxmlformats.org/officeDocument/2006/relationships/slide" Target="slide7.xml"/><Relationship Id="rId20" Type="http://schemas.openxmlformats.org/officeDocument/2006/relationships/slide" Target="slide7.xml"/><Relationship Id="rId21" Type="http://schemas.openxmlformats.org/officeDocument/2006/relationships/slide" Target="slide7.xm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7" Type="http://schemas.openxmlformats.org/officeDocument/2006/relationships/image" Target="../media/image-2-3.png"/><Relationship Id="rId11" Type="http://schemas.openxmlformats.org/officeDocument/2006/relationships/image" Target="../media/image-2-4.png"/><Relationship Id="rId15" Type="http://schemas.openxmlformats.org/officeDocument/2006/relationships/image" Target="../media/image-2-5.png"/><Relationship Id="rId19" Type="http://schemas.openxmlformats.org/officeDocument/2006/relationships/image" Target="../media/image-2-6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4" Type="http://schemas.openxmlformats.org/officeDocument/2006/relationships/slide" Target="slide4.xml"/><Relationship Id="rId5" Type="http://schemas.openxmlformats.org/officeDocument/2006/relationships/slide" Target="slide4.xml"/><Relationship Id="rId1" Type="http://schemas.openxmlformats.org/officeDocument/2006/relationships/image" Target="../media/image-3-1.png"/><Relationship Id="rId3" Type="http://schemas.openxmlformats.org/officeDocument/2006/relationships/image" Target="../media/image-3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4" Type="http://schemas.openxmlformats.org/officeDocument/2006/relationships/slide" Target="slide5.xml"/><Relationship Id="rId5" Type="http://schemas.openxmlformats.org/officeDocument/2006/relationships/slide" Target="slide5.xm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7" Type="http://schemas.openxmlformats.org/officeDocument/2006/relationships/slide" Target="slide6.xml"/><Relationship Id="rId8" Type="http://schemas.openxmlformats.org/officeDocument/2006/relationships/slide" Target="slide6.xm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image" Target="../media/image-5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4" Type="http://schemas.openxmlformats.org/officeDocument/2006/relationships/slide" Target="slide7.xml"/><Relationship Id="rId5" Type="http://schemas.openxmlformats.org/officeDocument/2006/relationships/slide" Target="slide7.xml"/><Relationship Id="rId1" Type="http://schemas.openxmlformats.org/officeDocument/2006/relationships/image" Target="../media/image-6-1.png"/><Relationship Id="rId3" Type="http://schemas.openxmlformats.org/officeDocument/2006/relationships/image" Target="../media/image-6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8.xm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1" Type="http://schemas.openxmlformats.org/officeDocument/2006/relationships/image" Target="../media/image-8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Thanos/d6aab909-83aa-502f-a0f9-b5c4e880bb0a/scratchpad/praesentation/assets/icon-glob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417320"/>
            <a:ext cx="2468880" cy="2468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77240" y="1965960"/>
            <a:ext cx="886968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9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Mehrwert für uns alle und unseren Kunden</a:t>
            </a:r>
            <a:endParaRPr lang="en-US" sz="4200" dirty="0"/>
          </a:p>
        </p:txBody>
      </p:sp>
      <p:sp>
        <p:nvSpPr>
          <p:cNvPr id="5" name="Text 1"/>
          <p:cNvSpPr/>
          <p:nvPr/>
        </p:nvSpPr>
        <p:spPr>
          <a:xfrm>
            <a:off x="822960" y="3977640"/>
            <a:ext cx="9784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Webseiten-Relaunch  ·  A.V.A.Z.-Zertifizierung  ·  Akademie &amp; SchulungsApp  ·  Handbücher  ·  Individuelle Kundenprojekte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841248" y="5120640"/>
            <a:ext cx="237744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822960" y="63550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Klicken Sie auf ein Thema, um direkt hineinzuspringen – jede Folie führt per Klick weiter.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731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Fünf strategische Themen</a:t>
            </a:r>
            <a:endParaRPr lang="en-US" sz="3400" dirty="0"/>
          </a:p>
        </p:txBody>
      </p:sp>
      <p:sp>
        <p:nvSpPr>
          <p:cNvPr id="5" name="Shape 2">
            <a:hlinkClick r:id="rId2" tooltip="Webseiten-Optimierung" action="ppaction://hlinksldjump"/>
          </p:cNvPr>
          <p:cNvSpPr/>
          <p:nvPr/>
        </p:nvSpPr>
        <p:spPr>
          <a:xfrm>
            <a:off x="548640" y="1444752"/>
            <a:ext cx="11064240" cy="9326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6" name="Image 1" descr="/tmp/claude-0/-home-user-Thanos/d6aab909-83aa-502f-a0f9-b5c4e880bb0a/scratchpad/praesentation/assets/circle-web.png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08760"/>
            <a:ext cx="640080" cy="640080"/>
          </a:xfrm>
          <a:prstGeom prst="rect">
            <a:avLst/>
          </a:prstGeom>
        </p:spPr>
      </p:pic>
      <p:sp>
        <p:nvSpPr>
          <p:cNvPr id="7" name="Text 3">
            <a:hlinkClick r:id="rId5" tooltip="" action="ppaction://hlinksldjump"/>
          </p:cNvPr>
          <p:cNvSpPr/>
          <p:nvPr/>
        </p:nvSpPr>
        <p:spPr>
          <a:xfrm>
            <a:off x="1627632" y="1417320"/>
            <a:ext cx="9418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 · Webseiten-Optimierung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1627632" y="182880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Überarbeitung von zwei Webseiten – Umsetzung in 3 bis 6 Werktagen.</a:t>
            </a:r>
            <a:endParaRPr lang="en-US" sz="1450" dirty="0"/>
          </a:p>
        </p:txBody>
      </p:sp>
      <p:sp>
        <p:nvSpPr>
          <p:cNvPr id="9" name="Shape 5">
            <a:hlinkClick r:id="rId6" tooltip="A.V.A.Z.-Zertifizierung" action="ppaction://hlinksldjump"/>
          </p:cNvPr>
          <p:cNvSpPr/>
          <p:nvPr/>
        </p:nvSpPr>
        <p:spPr>
          <a:xfrm>
            <a:off x="548640" y="2450592"/>
            <a:ext cx="11064240" cy="9326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10" name="Image 2" descr="/tmp/claude-0/-home-user-Thanos/d6aab909-83aa-502f-a0f9-b5c4e880bb0a/scratchpad/praesentation/assets/circle-certificate.png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2514600"/>
            <a:ext cx="640080" cy="640080"/>
          </a:xfrm>
          <a:prstGeom prst="rect">
            <a:avLst/>
          </a:prstGeom>
        </p:spPr>
      </p:pic>
      <p:sp>
        <p:nvSpPr>
          <p:cNvPr id="11" name="Text 6">
            <a:hlinkClick r:id="rId9" tooltip="" action="ppaction://hlinksldjump"/>
          </p:cNvPr>
          <p:cNvSpPr/>
          <p:nvPr/>
        </p:nvSpPr>
        <p:spPr>
          <a:xfrm>
            <a:off x="1627632" y="2423160"/>
            <a:ext cx="9418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 · A.V.A.Z.-Zertifizierung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627632" y="283464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Angebote einholen, Zertifizierung abschließen – 4 bis 14 Wochen.</a:t>
            </a:r>
            <a:endParaRPr lang="en-US" sz="1450" dirty="0"/>
          </a:p>
        </p:txBody>
      </p:sp>
      <p:sp>
        <p:nvSpPr>
          <p:cNvPr id="13" name="Shape 8">
            <a:hlinkClick r:id="rId10" tooltip="Akademie &amp; SchulungsApp" action="ppaction://hlinksldjump"/>
          </p:cNvPr>
          <p:cNvSpPr/>
          <p:nvPr/>
        </p:nvSpPr>
        <p:spPr>
          <a:xfrm>
            <a:off x="548640" y="3456432"/>
            <a:ext cx="11064240" cy="9326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14" name="Image 3" descr="/tmp/claude-0/-home-user-Thanos/d6aab909-83aa-502f-a0f9-b5c4e880bb0a/scratchpad/praesentation/assets/circle-academy.png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3520440"/>
            <a:ext cx="640080" cy="640080"/>
          </a:xfrm>
          <a:prstGeom prst="rect">
            <a:avLst/>
          </a:prstGeom>
        </p:spPr>
      </p:pic>
      <p:sp>
        <p:nvSpPr>
          <p:cNvPr id="15" name="Text 9">
            <a:hlinkClick r:id="rId13" tooltip="" action="ppaction://hlinksldjump"/>
          </p:cNvPr>
          <p:cNvSpPr/>
          <p:nvPr/>
        </p:nvSpPr>
        <p:spPr>
          <a:xfrm>
            <a:off x="1627632" y="3429000"/>
            <a:ext cx="9418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 · Akademie &amp; SchulungsApp</a:t>
            </a:r>
            <a:endParaRPr lang="en-US" sz="1900" dirty="0"/>
          </a:p>
        </p:txBody>
      </p:sp>
      <p:sp>
        <p:nvSpPr>
          <p:cNvPr id="16" name="Text 10"/>
          <p:cNvSpPr/>
          <p:nvPr/>
        </p:nvSpPr>
        <p:spPr>
          <a:xfrm>
            <a:off x="1627632" y="384048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IT-Weiterbildung mit SchulungsApp, E-Mail-Plattform und Dozenten-App.</a:t>
            </a:r>
            <a:endParaRPr lang="en-US" sz="1450" dirty="0"/>
          </a:p>
        </p:txBody>
      </p:sp>
      <p:sp>
        <p:nvSpPr>
          <p:cNvPr id="17" name="Shape 11">
            <a:hlinkClick r:id="rId14" tooltip="Handbücher" action="ppaction://hlinksldjump"/>
          </p:cNvPr>
          <p:cNvSpPr/>
          <p:nvPr/>
        </p:nvSpPr>
        <p:spPr>
          <a:xfrm>
            <a:off x="548640" y="4462272"/>
            <a:ext cx="11064240" cy="9326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18" name="Image 4" descr="/tmp/claude-0/-home-user-Thanos/d6aab909-83aa-502f-a0f9-b5c4e880bb0a/scratchpad/praesentation/assets/circle-handbook.png">
            <a:hlinkClick r:id="rId16" tooltip="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5800" y="4526280"/>
            <a:ext cx="640080" cy="640080"/>
          </a:xfrm>
          <a:prstGeom prst="rect">
            <a:avLst/>
          </a:prstGeom>
        </p:spPr>
      </p:pic>
      <p:sp>
        <p:nvSpPr>
          <p:cNvPr id="19" name="Text 12">
            <a:hlinkClick r:id="rId17" tooltip="" action="ppaction://hlinksldjump"/>
          </p:cNvPr>
          <p:cNvSpPr/>
          <p:nvPr/>
        </p:nvSpPr>
        <p:spPr>
          <a:xfrm>
            <a:off x="1627632" y="4434840"/>
            <a:ext cx="9418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 · Handbücher</a:t>
            </a:r>
            <a:endParaRPr lang="en-US" sz="1900" dirty="0"/>
          </a:p>
        </p:txBody>
      </p:sp>
      <p:sp>
        <p:nvSpPr>
          <p:cNvPr id="20" name="Text 13"/>
          <p:cNvSpPr/>
          <p:nvPr/>
        </p:nvSpPr>
        <p:spPr>
          <a:xfrm>
            <a:off x="1627632" y="484632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Technisches Handbuch (PowerShell) und Nutzerhandbuch je Angebot.</a:t>
            </a:r>
            <a:endParaRPr lang="en-US" sz="1450" dirty="0"/>
          </a:p>
        </p:txBody>
      </p:sp>
      <p:sp>
        <p:nvSpPr>
          <p:cNvPr id="21" name="Shape 14">
            <a:hlinkClick r:id="rId18" tooltip="Individuelle Kundenprojekte" action="ppaction://hlinksldjump"/>
          </p:cNvPr>
          <p:cNvSpPr/>
          <p:nvPr/>
        </p:nvSpPr>
        <p:spPr>
          <a:xfrm>
            <a:off x="548640" y="5468112"/>
            <a:ext cx="11064240" cy="9326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22" name="Image 5" descr="/tmp/claude-0/-home-user-Thanos/d6aab909-83aa-502f-a0f9-b5c4e880bb0a/scratchpad/praesentation/assets/circle-global.png">
            <a:hlinkClick r:id="rId20" tooltip="" action="ppaction://hlinksldjump"/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5800" y="5532120"/>
            <a:ext cx="640080" cy="640080"/>
          </a:xfrm>
          <a:prstGeom prst="rect">
            <a:avLst/>
          </a:prstGeom>
        </p:spPr>
      </p:pic>
      <p:sp>
        <p:nvSpPr>
          <p:cNvPr id="23" name="Text 15">
            <a:hlinkClick r:id="rId21" tooltip="" action="ppaction://hlinksldjump"/>
          </p:cNvPr>
          <p:cNvSpPr/>
          <p:nvPr/>
        </p:nvSpPr>
        <p:spPr>
          <a:xfrm>
            <a:off x="1627632" y="5440680"/>
            <a:ext cx="9418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2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 · Individuelle Kundenprojekte</a:t>
            </a:r>
            <a:endParaRPr lang="en-US" sz="1900" dirty="0"/>
          </a:p>
        </p:txBody>
      </p:sp>
      <p:sp>
        <p:nvSpPr>
          <p:cNvPr id="24" name="Text 16"/>
          <p:cNvSpPr/>
          <p:nvPr/>
        </p:nvSpPr>
        <p:spPr>
          <a:xfrm>
            <a:off x="1627632" y="585216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Maßgeschneiderte Software für Kunden jeder Branche, weltweit.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1</a:t>
            </a:r>
            <a:endParaRPr lang="en-US" sz="15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235440" y="4846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7315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Webseiten bearbeiten &amp; verbessern</a:t>
            </a:r>
            <a:endParaRPr lang="en-US" sz="3000" dirty="0"/>
          </a:p>
        </p:txBody>
      </p:sp>
      <p:pic>
        <p:nvPicPr>
          <p:cNvPr id="6" name="Image 1" descr="/tmp/claude-0/-home-user-Thanos/d6aab909-83aa-502f-a0f9-b5c4e880bb0a/scratchpad/praesentation/assets/icon-we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457200"/>
            <a:ext cx="2194560" cy="21945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16916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bestehende Webseiten werden im vereinbarten Umfang überarbeitet und spürbar verbessert – schnell, effizient und ohne lange Ausfallzeiten.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640080" y="2788920"/>
            <a:ext cx="2834640" cy="1463040"/>
          </a:xfrm>
          <a:prstGeom prst="roundRect">
            <a:avLst>
              <a:gd name="adj" fmla="val 7500"/>
            </a:avLst>
          </a:prstGeom>
          <a:solidFill>
            <a:srgbClr val="040B1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640080" y="28620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6E1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3–6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640080" y="3547872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WERKTAGE UMSETZUNG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749040" y="278892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Nutzerführung erneuern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Ladezeiten &amp; Performance verbessern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Inhalte prüfen &amp; aktualisieren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Darstellung &amp; Responsivität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Grundlegende SEO-Optimierung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40080" y="5074920"/>
            <a:ext cx="548640" cy="54864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40080" y="5074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1252728" y="5349240"/>
            <a:ext cx="2560320" cy="0"/>
          </a:xfrm>
          <a:prstGeom prst="line">
            <a:avLst/>
          </a:prstGeom>
          <a:noFill/>
          <a:ln w="25400">
            <a:solidFill>
              <a:srgbClr val="8A6A1E"/>
            </a:solidFill>
            <a:prstDash val="dash"/>
          </a:ln>
        </p:spPr>
      </p:sp>
      <p:sp>
        <p:nvSpPr>
          <p:cNvPr id="15" name="Text 11"/>
          <p:cNvSpPr/>
          <p:nvPr/>
        </p:nvSpPr>
        <p:spPr>
          <a:xfrm>
            <a:off x="137160" y="571500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137160" y="6044184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1–2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3886200" y="5074920"/>
            <a:ext cx="548640" cy="54864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3886200" y="5074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4498848" y="5349240"/>
            <a:ext cx="2560320" cy="0"/>
          </a:xfrm>
          <a:prstGeom prst="line">
            <a:avLst/>
          </a:prstGeom>
          <a:noFill/>
          <a:ln w="25400">
            <a:solidFill>
              <a:srgbClr val="8A6A1E"/>
            </a:solidFill>
            <a:prstDash val="dash"/>
          </a:ln>
        </p:spPr>
      </p:sp>
      <p:sp>
        <p:nvSpPr>
          <p:cNvPr id="20" name="Text 16"/>
          <p:cNvSpPr/>
          <p:nvPr/>
        </p:nvSpPr>
        <p:spPr>
          <a:xfrm>
            <a:off x="3383280" y="571500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Umsetzung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3383280" y="6044184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3–4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7132320" y="5074920"/>
            <a:ext cx="548640" cy="54864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7132320" y="5074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0"/>
          <p:cNvSpPr/>
          <p:nvPr/>
        </p:nvSpPr>
        <p:spPr>
          <a:xfrm>
            <a:off x="6629400" y="571500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&amp; Go-Live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6629400" y="6044184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5–6</a:t>
            </a:r>
            <a:endParaRPr lang="en-US" sz="1300" dirty="0"/>
          </a:p>
        </p:txBody>
      </p:sp>
      <p:sp>
        <p:nvSpPr>
          <p:cNvPr id="26" name="Shape 22">
            <a:hlinkClick r:id="rId4" tooltip="Th. 2 – A.V.A.Z.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oundRect">
            <a:avLst>
              <a:gd name="adj" fmla="val 17857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27" name="Text 23">
            <a:hlinkClick r:id="rId5" tooltip="Th. 2 – A.V.A.Z.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Th. 2 – A.V.A.Z.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Th. 2 – A.V.A.Z.  →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2</a:t>
            </a:r>
            <a:endParaRPr lang="en-US" sz="15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235440" y="4846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7315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A.V.A.Z.-Zertifizierung</a:t>
            </a:r>
            <a:endParaRPr lang="en-US" sz="3000" dirty="0"/>
          </a:p>
        </p:txBody>
      </p:sp>
      <p:pic>
        <p:nvPicPr>
          <p:cNvPr id="6" name="Image 1" descr="/tmp/claude-0/-home-user-Thanos/d6aab909-83aa-502f-a0f9-b5c4e880bb0a/scratchpad/praesentation/assets/icon-certific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457200"/>
            <a:ext cx="2194560" cy="21945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16916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Angebote zur A.V.A.Z.-Zertifizierung werden eingeholt und der gesamte Zertifizierungsprozess begleitet – einheitlich bis zum Abschluss.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640080" y="2788920"/>
            <a:ext cx="2834640" cy="1463040"/>
          </a:xfrm>
          <a:prstGeom prst="roundRect">
            <a:avLst>
              <a:gd name="adj" fmla="val 7500"/>
            </a:avLst>
          </a:prstGeom>
          <a:solidFill>
            <a:srgbClr val="040B1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640080" y="28620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6E1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4–14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640080" y="3547872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WOCHEN ZERTIFIZIERUNG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749040" y="278892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Zertifizierungs-Angebote einholen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Kosten, Umfang und Termine vergleichen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 &amp; Unterlagen vorbereiten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 &amp; Zertifizierung begleiten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 &amp; Zertifikat ausstellen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40080" y="5074920"/>
            <a:ext cx="548640" cy="54864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40080" y="5074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1252728" y="5349240"/>
            <a:ext cx="2560320" cy="0"/>
          </a:xfrm>
          <a:prstGeom prst="line">
            <a:avLst/>
          </a:prstGeom>
          <a:noFill/>
          <a:ln w="25400">
            <a:solidFill>
              <a:srgbClr val="8A6A1E"/>
            </a:solidFill>
            <a:prstDash val="dash"/>
          </a:ln>
        </p:spPr>
      </p:sp>
      <p:sp>
        <p:nvSpPr>
          <p:cNvPr id="15" name="Text 11"/>
          <p:cNvSpPr/>
          <p:nvPr/>
        </p:nvSpPr>
        <p:spPr>
          <a:xfrm>
            <a:off x="137160" y="571500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Angebote einholen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137160" y="6044184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 1–3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3886200" y="5074920"/>
            <a:ext cx="548640" cy="54864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3886200" y="5074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4498848" y="5349240"/>
            <a:ext cx="2560320" cy="0"/>
          </a:xfrm>
          <a:prstGeom prst="line">
            <a:avLst/>
          </a:prstGeom>
          <a:noFill/>
          <a:ln w="25400">
            <a:solidFill>
              <a:srgbClr val="8A6A1E"/>
            </a:solidFill>
            <a:prstDash val="dash"/>
          </a:ln>
        </p:spPr>
      </p:sp>
      <p:sp>
        <p:nvSpPr>
          <p:cNvPr id="20" name="Text 16"/>
          <p:cNvSpPr/>
          <p:nvPr/>
        </p:nvSpPr>
        <p:spPr>
          <a:xfrm>
            <a:off x="3383280" y="571500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 &amp; Vorbereitung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3383280" y="6044184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 4–10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7132320" y="5074920"/>
            <a:ext cx="548640" cy="54864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7132320" y="5074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0"/>
          <p:cNvSpPr/>
          <p:nvPr/>
        </p:nvSpPr>
        <p:spPr>
          <a:xfrm>
            <a:off x="6629400" y="571500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Zertifizierung &amp; Abschluss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629400" y="6044184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 11–14</a:t>
            </a:r>
            <a:endParaRPr lang="en-US" sz="1300" dirty="0"/>
          </a:p>
        </p:txBody>
      </p:sp>
      <p:sp>
        <p:nvSpPr>
          <p:cNvPr id="26" name="Shape 22">
            <a:hlinkClick r:id="rId4" tooltip="Th. 3 – Akademie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oundRect">
            <a:avLst>
              <a:gd name="adj" fmla="val 17857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27" name="Text 23">
            <a:hlinkClick r:id="rId5" tooltip="Th. 3 – Akademie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Th. 3 – Akademi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Th. 3 – Akademie  →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3</a:t>
            </a:r>
            <a:endParaRPr lang="en-US" sz="15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235440" y="4846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Akademie – IT-Weiterbildung mit SchulungsApp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536192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eigene digitale Lernplattform für Teilnehmer und Dozenten – von der Schulung bis zur Wissenskontrolle.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2240280"/>
            <a:ext cx="2542032" cy="352044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8" name="Image 1" descr="/tmp/claude-0/-home-user-Thanos/d6aab909-83aa-502f-a0f9-b5c4e880bb0a/scratchpad/praesentation/assets/circle-we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5336" y="25328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68096" y="3410712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SchulungsApp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4178808"/>
            <a:ext cx="21762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Inklusive Sniping-Funktion und direkter Google-Drive-Anbindung.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3410712" y="2240280"/>
            <a:ext cx="2542032" cy="352044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12" name="Image 2" descr="/tmp/claude-0/-home-user-Thanos/d6aab909-83aa-502f-a0f9-b5c4e880bb0a/scratchpad/praesentation/assets/circle-academ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968" y="2532888"/>
            <a:ext cx="731520" cy="7315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38728" y="3410712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E-Mail-Plattform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3593592" y="4178808"/>
            <a:ext cx="21762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Ein- &amp; Ausgang inkl. Word &amp; PowerPoint, z. B. automatischer Folienerstellung.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181344" y="2240280"/>
            <a:ext cx="2542032" cy="352044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16" name="Image 3" descr="/tmp/claude-0/-home-user-Thanos/d6aab909-83aa-502f-a0f9-b5c4e880bb0a/scratchpad/praesentation/assets/circle-hand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2532888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309360" y="3410712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Zwischentests</a:t>
            </a:r>
            <a:endParaRPr lang="en-US" sz="1800" dirty="0"/>
          </a:p>
        </p:txBody>
      </p:sp>
      <p:sp>
        <p:nvSpPr>
          <p:cNvPr id="18" name="Text 12"/>
          <p:cNvSpPr/>
          <p:nvPr/>
        </p:nvSpPr>
        <p:spPr>
          <a:xfrm>
            <a:off x="6364224" y="4178808"/>
            <a:ext cx="21762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Laufende Wissenskontrolle zur gezielten Verbesserung der Teilnehmer.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8951976" y="2240280"/>
            <a:ext cx="2542032" cy="352044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20" name="Image 4" descr="/tmp/claude-0/-home-user-Thanos/d6aab909-83aa-502f-a0f9-b5c4e880bb0a/scratchpad/praesentation/assets/circle-globa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7232" y="2532888"/>
            <a:ext cx="731520" cy="7315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79992" y="3410712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Dozenten-App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9134856" y="4178808"/>
            <a:ext cx="21762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App für alle teilnehmenden Dozenten der Akademie.</a:t>
            </a:r>
            <a:endParaRPr lang="en-US" sz="1400" dirty="0"/>
          </a:p>
        </p:txBody>
      </p:sp>
      <p:sp>
        <p:nvSpPr>
          <p:cNvPr id="23" name="Shape 16">
            <a:hlinkClick r:id="rId7" tooltip="Th. 4 – Handbücher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oundRect">
            <a:avLst>
              <a:gd name="adj" fmla="val 17857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24" name="Text 17">
            <a:hlinkClick r:id="rId8" tooltip="Th. 4 – Handbücher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Th. 4 – Handbüch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Th. 4 – Handbücher  →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4</a:t>
            </a:r>
            <a:endParaRPr lang="en-US" sz="15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235440" y="4846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7315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Handbücher zu jedem Angebot</a:t>
            </a:r>
            <a:endParaRPr lang="en-US" sz="3000" dirty="0"/>
          </a:p>
        </p:txBody>
      </p:sp>
      <p:pic>
        <p:nvPicPr>
          <p:cNvPr id="6" name="Image 1" descr="/tmp/claude-0/-home-user-Thanos/d6aab909-83aa-502f-a0f9-b5c4e880bb0a/scratchpad/praesentation/assets/icon-hand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457200"/>
            <a:ext cx="2194560" cy="21945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16916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allen Angeboten gehört grundsätzlich ein passendes Handbuch – jeweils zugeschnitten auf die Zielgruppe.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640080" y="2743200"/>
            <a:ext cx="5074920" cy="3566160"/>
          </a:xfrm>
          <a:prstGeom prst="roundRect">
            <a:avLst>
              <a:gd name="adj" fmla="val 3077"/>
            </a:avLst>
          </a:prstGeom>
          <a:solidFill>
            <a:srgbClr val="040B1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960120" y="2999232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Technisches Handbuch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960120" y="3474720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das Programmieren (PowerShell)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960120" y="4041648"/>
            <a:ext cx="44348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Skript- &amp; Automatisierungslogik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Aufbau, Konventionen, Fehlerbehandlung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Schritt-für-Schritt-Referenz für Entwickler</a:t>
            </a:r>
            <a:endParaRPr lang="en-US" sz="1550" dirty="0"/>
          </a:p>
        </p:txBody>
      </p:sp>
      <p:sp>
        <p:nvSpPr>
          <p:cNvPr id="12" name="Shape 8"/>
          <p:cNvSpPr/>
          <p:nvPr/>
        </p:nvSpPr>
        <p:spPr>
          <a:xfrm>
            <a:off x="6172200" y="2743200"/>
            <a:ext cx="5074920" cy="3566160"/>
          </a:xfrm>
          <a:prstGeom prst="roundRect">
            <a:avLst>
              <a:gd name="adj" fmla="val 3077"/>
            </a:avLst>
          </a:prstGeom>
          <a:solidFill>
            <a:srgbClr val="F7F8FC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492240" y="2999232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Nutzerhandbuch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6492240" y="3474720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Teilnehmer &amp; Anwender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492240" y="4041648"/>
            <a:ext cx="44348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Verständliche Bedienungsanleitung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Beispiele aus dem Arbeitsalltag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Grundlage für Schulung &amp; Support</a:t>
            </a:r>
            <a:endParaRPr lang="en-US" sz="1550" dirty="0"/>
          </a:p>
        </p:txBody>
      </p:sp>
      <p:sp>
        <p:nvSpPr>
          <p:cNvPr id="16" name="Shape 12">
            <a:hlinkClick r:id="rId4" tooltip="Th. 5 – Kunden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oundRect">
            <a:avLst>
              <a:gd name="adj" fmla="val 17857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17" name="Text 13">
            <a:hlinkClick r:id="rId5" tooltip="Th. 5 – Kunden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Th. 5 – Kunde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Th. 5 – Kunden  →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5</a:t>
            </a:r>
            <a:endParaRPr lang="en-US" sz="15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235440" y="4846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73152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Individuelle Programmierung für Kunden</a:t>
            </a:r>
            <a:endParaRPr lang="en-US" sz="3000" dirty="0"/>
          </a:p>
        </p:txBody>
      </p:sp>
      <p:pic>
        <p:nvPicPr>
          <p:cNvPr id="6" name="Image 1" descr="/tmp/claude-0/-home-user-Thanos/d6aab909-83aa-502f-a0f9-b5c4e880bb0a/scratchpad/praesentation/assets/icon-glob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457200"/>
            <a:ext cx="2194560" cy="21945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169164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Nahezu jede Idee lässt sich als Softwarelösung umsetzen – unabhängig von Kunde oder Fachbereich.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640080" y="2514600"/>
            <a:ext cx="3337560" cy="2148840"/>
          </a:xfrm>
          <a:prstGeom prst="roundRect">
            <a:avLst>
              <a:gd name="adj" fmla="val 5106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3A73">
                <a:alpha val="1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96112" y="2770632"/>
            <a:ext cx="475488" cy="475488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0" name="Text 6"/>
          <p:cNvSpPr/>
          <p:nvPr/>
        </p:nvSpPr>
        <p:spPr>
          <a:xfrm>
            <a:off x="896112" y="277063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896112" y="3410712"/>
            <a:ext cx="28254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Ärzte weltweit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896112" y="3813048"/>
            <a:ext cx="28254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 Lösungen für medizinische Praxen und Kliniken.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4297680" y="2514600"/>
            <a:ext cx="3337560" cy="2148840"/>
          </a:xfrm>
          <a:prstGeom prst="roundRect">
            <a:avLst>
              <a:gd name="adj" fmla="val 5106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3A73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53712" y="2770632"/>
            <a:ext cx="475488" cy="475488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5" name="Text 11"/>
          <p:cNvSpPr/>
          <p:nvPr/>
        </p:nvSpPr>
        <p:spPr>
          <a:xfrm>
            <a:off x="4553712" y="277063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4553712" y="3410712"/>
            <a:ext cx="28254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Bauingenieure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4553712" y="3813048"/>
            <a:ext cx="28254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Fachspezifische Software für Planung und Projektabwicklung.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7955280" y="2514600"/>
            <a:ext cx="3337560" cy="2148840"/>
          </a:xfrm>
          <a:prstGeom prst="roundRect">
            <a:avLst>
              <a:gd name="adj" fmla="val 5106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3A73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11312" y="2770632"/>
            <a:ext cx="475488" cy="475488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0" name="Text 16"/>
          <p:cNvSpPr/>
          <p:nvPr/>
        </p:nvSpPr>
        <p:spPr>
          <a:xfrm>
            <a:off x="8211312" y="277063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21" name="Text 17"/>
          <p:cNvSpPr/>
          <p:nvPr/>
        </p:nvSpPr>
        <p:spPr>
          <a:xfrm>
            <a:off x="8211312" y="3410712"/>
            <a:ext cx="28254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Weitere Branchen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8211312" y="3813048"/>
            <a:ext cx="28254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Individuelle Programme für nahezu jedes Themengebiet.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640080" y="4937760"/>
            <a:ext cx="10881360" cy="1097280"/>
          </a:xfrm>
          <a:prstGeom prst="roundRect">
            <a:avLst>
              <a:gd name="adj" fmla="val 10000"/>
            </a:avLst>
          </a:prstGeom>
          <a:solidFill>
            <a:srgbClr val="040B1F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4" name="Text 20"/>
          <p:cNvSpPr/>
          <p:nvPr/>
        </p:nvSpPr>
        <p:spPr>
          <a:xfrm>
            <a:off x="960120" y="493776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i="1" dirty="0">
                <a:solidFill>
                  <a:srgbClr val="F6E1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„Fast immer möglich": maßgeschneiderte Programmierung – flexibel, fachübergreifend, weltweit einsetzbar.</a:t>
            </a:r>
            <a:endParaRPr lang="en-US" sz="1900" dirty="0"/>
          </a:p>
        </p:txBody>
      </p:sp>
      <p:sp>
        <p:nvSpPr>
          <p:cNvPr id="25" name="Shape 21">
            <a:hlinkClick r:id="rId4" tooltip="Zusammenfassung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oundRect">
            <a:avLst>
              <a:gd name="adj" fmla="val 17857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26" name="Text 22">
            <a:hlinkClick r:id="rId5" tooltip="Zusammenfassung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Zusammenfassu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Zusammenfassung  →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ZUSAMMENFASSUNG</a:t>
            </a:r>
            <a:endParaRPr lang="en-US" sz="15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235440" y="4846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858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Schritte</a:t>
            </a:r>
            <a:endParaRPr lang="en-US" sz="3400" dirty="0"/>
          </a:p>
        </p:txBody>
      </p:sp>
      <p:sp>
        <p:nvSpPr>
          <p:cNvPr id="6" name="Shape 3">
            <a:hlinkClick r:id="rId3" tooltip="Webseiten-Relaunch starten" action="ppaction://hlinksldjump"/>
          </p:cNvPr>
          <p:cNvSpPr/>
          <p:nvPr/>
        </p:nvSpPr>
        <p:spPr>
          <a:xfrm>
            <a:off x="548640" y="1417320"/>
            <a:ext cx="11064240" cy="7132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685800" y="1463040"/>
            <a:ext cx="475488" cy="475488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46304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389888" y="1444752"/>
            <a:ext cx="6858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Webseiten-Relaunch starten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503920" y="144475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Werktage</a:t>
            </a:r>
            <a:endParaRPr lang="en-US" sz="1450" dirty="0"/>
          </a:p>
        </p:txBody>
      </p:sp>
      <p:sp>
        <p:nvSpPr>
          <p:cNvPr id="11" name="Shape 8">
            <a:hlinkClick r:id="rId4" tooltip="A.V.A.Z.-Zertifizierung: Angebote einholen" action="ppaction://hlinksldjump"/>
          </p:cNvPr>
          <p:cNvSpPr/>
          <p:nvPr/>
        </p:nvSpPr>
        <p:spPr>
          <a:xfrm>
            <a:off x="548640" y="2130552"/>
            <a:ext cx="11064240" cy="7132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685800" y="2176272"/>
            <a:ext cx="475488" cy="475488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21762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389888" y="2157984"/>
            <a:ext cx="6858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A.V.A.Z.-Zertifizierung: Angebote einholen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503920" y="2157984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4–14 Wochen</a:t>
            </a:r>
            <a:endParaRPr lang="en-US" sz="1450" dirty="0"/>
          </a:p>
        </p:txBody>
      </p:sp>
      <p:sp>
        <p:nvSpPr>
          <p:cNvPr id="16" name="Shape 13">
            <a:hlinkClick r:id="rId5" tooltip="Akademie-Plattform &amp; SchulungsApp konzipieren" action="ppaction://hlinksldjump"/>
          </p:cNvPr>
          <p:cNvSpPr/>
          <p:nvPr/>
        </p:nvSpPr>
        <p:spPr>
          <a:xfrm>
            <a:off x="548640" y="2843784"/>
            <a:ext cx="11064240" cy="7132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685800" y="2889504"/>
            <a:ext cx="475488" cy="475488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" y="288950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389888" y="2871216"/>
            <a:ext cx="6858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Akademie-Plattform &amp; SchulungsApp konzipieren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503920" y="287121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folgt</a:t>
            </a:r>
            <a:endParaRPr lang="en-US" sz="1450" dirty="0"/>
          </a:p>
        </p:txBody>
      </p:sp>
      <p:sp>
        <p:nvSpPr>
          <p:cNvPr id="21" name="Shape 18">
            <a:hlinkClick r:id="rId6" tooltip="Handbücher (technisch &amp; Nutzer) erstellen" action="ppaction://hlinksldjump"/>
          </p:cNvPr>
          <p:cNvSpPr/>
          <p:nvPr/>
        </p:nvSpPr>
        <p:spPr>
          <a:xfrm>
            <a:off x="548640" y="3557016"/>
            <a:ext cx="11064240" cy="7132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85800" y="3602736"/>
            <a:ext cx="475488" cy="475488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3" name="Text 20"/>
          <p:cNvSpPr/>
          <p:nvPr/>
        </p:nvSpPr>
        <p:spPr>
          <a:xfrm>
            <a:off x="685800" y="360273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389888" y="3584448"/>
            <a:ext cx="6858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Handbücher (technisch &amp; Nutzer) erstellen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503920" y="3584448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begleitend</a:t>
            </a:r>
            <a:endParaRPr lang="en-US" sz="1450" dirty="0"/>
          </a:p>
        </p:txBody>
      </p:sp>
      <p:sp>
        <p:nvSpPr>
          <p:cNvPr id="26" name="Shape 23">
            <a:hlinkClick r:id="rId7" tooltip="Kundenanfragen für individuelle Projekte aufnehmen" action="ppaction://hlinksldjump"/>
          </p:cNvPr>
          <p:cNvSpPr/>
          <p:nvPr/>
        </p:nvSpPr>
        <p:spPr>
          <a:xfrm>
            <a:off x="548640" y="4270248"/>
            <a:ext cx="11064240" cy="7132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685800" y="4315968"/>
            <a:ext cx="475488" cy="475488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5"/>
          <p:cNvSpPr/>
          <p:nvPr/>
        </p:nvSpPr>
        <p:spPr>
          <a:xfrm>
            <a:off x="685800" y="431596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389888" y="4297680"/>
            <a:ext cx="6858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Kundenanfragen für individuelle Projekte aufnehmen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8503920" y="4297680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laufend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85800" y="5138928"/>
            <a:ext cx="10607040" cy="0"/>
          </a:xfrm>
          <a:prstGeom prst="line">
            <a:avLst/>
          </a:prstGeom>
          <a:noFill/>
          <a:ln w="12700">
            <a:solidFill>
              <a:srgbClr val="8A6A1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" y="532180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6E1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Vielen Dank für Ihre Zeit.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2026-07-29T21:17:02Z</dcterms:created>
  <dcterms:modified xsi:type="dcterms:W3CDTF">2026-07-29T21:17:02Z</dcterms:modified>
</cp:coreProperties>
</file>