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8" Type="http://schemas.openxmlformats.org/officeDocument/2006/relationships/slide" Target="slide4.xml"/><Relationship Id="rId9" Type="http://schemas.openxmlformats.org/officeDocument/2006/relationships/slide" Target="slide4.xml"/><Relationship Id="rId10" Type="http://schemas.openxmlformats.org/officeDocument/2006/relationships/slide" Target="slide5.xml"/><Relationship Id="rId12" Type="http://schemas.openxmlformats.org/officeDocument/2006/relationships/slide" Target="slide5.xml"/><Relationship Id="rId13" Type="http://schemas.openxmlformats.org/officeDocument/2006/relationships/slide" Target="slide5.xml"/><Relationship Id="rId14" Type="http://schemas.openxmlformats.org/officeDocument/2006/relationships/slide" Target="slide6.xml"/><Relationship Id="rId16" Type="http://schemas.openxmlformats.org/officeDocument/2006/relationships/slide" Target="slide6.xml"/><Relationship Id="rId17" Type="http://schemas.openxmlformats.org/officeDocument/2006/relationships/slide" Target="slide6.xml"/><Relationship Id="rId18" Type="http://schemas.openxmlformats.org/officeDocument/2006/relationships/slide" Target="slide7.xml"/><Relationship Id="rId20" Type="http://schemas.openxmlformats.org/officeDocument/2006/relationships/slide" Target="slide7.xml"/><Relationship Id="rId21" Type="http://schemas.openxmlformats.org/officeDocument/2006/relationships/slide" Target="slide7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7" Type="http://schemas.openxmlformats.org/officeDocument/2006/relationships/image" Target="../media/image-2-3.png"/><Relationship Id="rId11" Type="http://schemas.openxmlformats.org/officeDocument/2006/relationships/image" Target="../media/image-2-4.png"/><Relationship Id="rId15" Type="http://schemas.openxmlformats.org/officeDocument/2006/relationships/image" Target="../media/image-2-5.png"/><Relationship Id="rId19" Type="http://schemas.openxmlformats.org/officeDocument/2006/relationships/image" Target="../media/image-2-6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4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4" Type="http://schemas.openxmlformats.org/officeDocument/2006/relationships/slide" Target="slide5.xml"/><Relationship Id="rId5" Type="http://schemas.openxmlformats.org/officeDocument/2006/relationships/slide" Target="slide5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7" Type="http://schemas.openxmlformats.org/officeDocument/2006/relationships/slide" Target="slide6.xml"/><Relationship Id="rId8" Type="http://schemas.openxmlformats.org/officeDocument/2006/relationships/slide" Target="slide6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image" Target="../media/image-5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4" Type="http://schemas.openxmlformats.org/officeDocument/2006/relationships/slide" Target="slide7.xml"/><Relationship Id="rId5" Type="http://schemas.openxmlformats.org/officeDocument/2006/relationships/slide" Target="slide7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4" Type="http://schemas.openxmlformats.org/officeDocument/2006/relationships/slide" Target="slide8.xml"/><Relationship Id="rId5" Type="http://schemas.openxmlformats.org/officeDocument/2006/relationships/slide" Target="slide8.xm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1" Type="http://schemas.openxmlformats.org/officeDocument/2006/relationships/image" Target="../media/image-8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anos/d6aab909-83aa-502f-a0f9-b5c4e880bb0a/scratchpad/praesentation/assets/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Thanos/d6aab909-83aa-502f-a0f9-b5c4e880bb0a/scratchpad/praesentation/assets/icon-glob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17320"/>
            <a:ext cx="2468880" cy="2468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1234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STRATEGISCHE PROJEKT-ROADMAP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777240" y="1783080"/>
            <a:ext cx="88696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Mehrwert für uns alle und unseren Kunden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822960" y="397764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Webseiten-Relaunch  ·  A.V.A.Z.-Zertifizierung  ·  Akademie &amp; SchulungsApp  ·  Handbücher  ·  Individuelle Kundenprojekte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841248" y="4892040"/>
            <a:ext cx="23774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Vorgelegt zur Entscheidung  ·  29. Juli 2026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22960" y="6309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Klicken Sie auf ein Thema, um direkt hineinzuspringen – jede Folie führt per Klick weiter.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anos/d6aab909-83aa-502f-a0f9-b5c4e880bb0a/scratchpad/praesentation/assets/corner-g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Fünf strategische Themen</a:t>
            </a:r>
            <a:endParaRPr lang="en-US" sz="3200" dirty="0"/>
          </a:p>
        </p:txBody>
      </p:sp>
      <p:sp>
        <p:nvSpPr>
          <p:cNvPr id="5" name="Shape 2">
            <a:hlinkClick r:id="rId2" tooltip="Webseiten-Optimierung" action="ppaction://hlinksldjump"/>
          </p:cNvPr>
          <p:cNvSpPr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6" name="Image 1" descr="/tmp/claude-0/-home-user-Thanos/d6aab909-83aa-502f-a0f9-b5c4e880bb0a/scratchpad/praesentation/assets/circle-web.png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91056"/>
            <a:ext cx="621792" cy="621792"/>
          </a:xfrm>
          <a:prstGeom prst="rect">
            <a:avLst/>
          </a:prstGeom>
        </p:spPr>
      </p:pic>
      <p:sp>
        <p:nvSpPr>
          <p:cNvPr id="7" name="Text 3">
            <a:hlinkClick r:id="rId5" tooltip="" action="ppaction://hlinksldjump"/>
          </p:cNvPr>
          <p:cNvSpPr/>
          <p:nvPr/>
        </p:nvSpPr>
        <p:spPr>
          <a:xfrm>
            <a:off x="1572768" y="152704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· Webseiten-Optimierung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572768" y="187452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Überarbeitung von zwei bestehenden Webseiten – Umsetzung in 3 bis 6 Werktagen.</a:t>
            </a:r>
            <a:endParaRPr lang="en-US" sz="1250" dirty="0"/>
          </a:p>
        </p:txBody>
      </p:sp>
      <p:sp>
        <p:nvSpPr>
          <p:cNvPr id="9" name="Shape 5">
            <a:hlinkClick r:id="rId6" tooltip="A.V.A.Z.-Zertifizierung" action="ppaction://hlinksldjump"/>
          </p:cNvPr>
          <p:cNvSpPr/>
          <p:nvPr/>
        </p:nvSpPr>
        <p:spPr>
          <a:xfrm>
            <a:off x="548640" y="2496312"/>
            <a:ext cx="11064240" cy="868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10" name="Image 2" descr="/tmp/claude-0/-home-user-Thanos/d6aab909-83aa-502f-a0f9-b5c4e880bb0a/scratchpad/praesentation/assets/circle-certificate.png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532888"/>
            <a:ext cx="621792" cy="621792"/>
          </a:xfrm>
          <a:prstGeom prst="rect">
            <a:avLst/>
          </a:prstGeom>
        </p:spPr>
      </p:pic>
      <p:sp>
        <p:nvSpPr>
          <p:cNvPr id="11" name="Text 6">
            <a:hlinkClick r:id="rId9" tooltip="" action="ppaction://hlinksldjump"/>
          </p:cNvPr>
          <p:cNvSpPr/>
          <p:nvPr/>
        </p:nvSpPr>
        <p:spPr>
          <a:xfrm>
            <a:off x="1572768" y="246888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· A.V.A.Z.-Zertifizierung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572768" y="281635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Angebote einholen und Zertifizierung abschließen – Dauer 4 bis 14 Wochen.</a:t>
            </a:r>
            <a:endParaRPr lang="en-US" sz="1250" dirty="0"/>
          </a:p>
        </p:txBody>
      </p:sp>
      <p:sp>
        <p:nvSpPr>
          <p:cNvPr id="13" name="Shape 8">
            <a:hlinkClick r:id="rId10" tooltip="Akademie &amp; SchulungsApp" action="ppaction://hlinksldjump"/>
          </p:cNvPr>
          <p:cNvSpPr/>
          <p:nvPr/>
        </p:nvSpPr>
        <p:spPr>
          <a:xfrm>
            <a:off x="548640" y="3438144"/>
            <a:ext cx="11064240" cy="868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14" name="Image 3" descr="/tmp/claude-0/-home-user-Thanos/d6aab909-83aa-502f-a0f9-b5c4e880bb0a/scratchpad/praesentation/assets/circle-academy.png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474720"/>
            <a:ext cx="621792" cy="621792"/>
          </a:xfrm>
          <a:prstGeom prst="rect">
            <a:avLst/>
          </a:prstGeom>
        </p:spPr>
      </p:pic>
      <p:sp>
        <p:nvSpPr>
          <p:cNvPr id="15" name="Text 9">
            <a:hlinkClick r:id="rId13" tooltip="" action="ppaction://hlinksldjump"/>
          </p:cNvPr>
          <p:cNvSpPr/>
          <p:nvPr/>
        </p:nvSpPr>
        <p:spPr>
          <a:xfrm>
            <a:off x="1572768" y="341071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· Akademie &amp; SchulungsApp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572768" y="375818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IT-Weiterbildungsplattform mit SchulungsApp, E-Mail-Plattform und Dozenten-App.</a:t>
            </a:r>
            <a:endParaRPr lang="en-US" sz="1250" dirty="0"/>
          </a:p>
        </p:txBody>
      </p:sp>
      <p:sp>
        <p:nvSpPr>
          <p:cNvPr id="17" name="Shape 11">
            <a:hlinkClick r:id="rId14" tooltip="Handbücher" action="ppaction://hlinksldjump"/>
          </p:cNvPr>
          <p:cNvSpPr/>
          <p:nvPr/>
        </p:nvSpPr>
        <p:spPr>
          <a:xfrm>
            <a:off x="548640" y="4379976"/>
            <a:ext cx="11064240" cy="868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18" name="Image 4" descr="/tmp/claude-0/-home-user-Thanos/d6aab909-83aa-502f-a0f9-b5c4e880bb0a/scratchpad/praesentation/assets/circle-handbook.png">
            <a:hlinkClick r:id="rId16" tooltip="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416552"/>
            <a:ext cx="621792" cy="621792"/>
          </a:xfrm>
          <a:prstGeom prst="rect">
            <a:avLst/>
          </a:prstGeom>
        </p:spPr>
      </p:pic>
      <p:sp>
        <p:nvSpPr>
          <p:cNvPr id="19" name="Text 12">
            <a:hlinkClick r:id="rId17" tooltip="" action="ppaction://hlinksldjump"/>
          </p:cNvPr>
          <p:cNvSpPr/>
          <p:nvPr/>
        </p:nvSpPr>
        <p:spPr>
          <a:xfrm>
            <a:off x="1572768" y="435254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 · Handbücher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1572768" y="4700016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Technisches Handbuch (PowerShell) und Nutzerhandbuch zu jedem Angebot.</a:t>
            </a:r>
            <a:endParaRPr lang="en-US" sz="1250" dirty="0"/>
          </a:p>
        </p:txBody>
      </p:sp>
      <p:sp>
        <p:nvSpPr>
          <p:cNvPr id="21" name="Shape 14">
            <a:hlinkClick r:id="rId18" tooltip="Individuelle Kundenprojekte" action="ppaction://hlinksldjump"/>
          </p:cNvPr>
          <p:cNvSpPr/>
          <p:nvPr/>
        </p:nvSpPr>
        <p:spPr>
          <a:xfrm>
            <a:off x="548640" y="5321808"/>
            <a:ext cx="11064240" cy="868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22" name="Image 5" descr="/tmp/claude-0/-home-user-Thanos/d6aab909-83aa-502f-a0f9-b5c4e880bb0a/scratchpad/praesentation/assets/circle-global.png">
            <a:hlinkClick r:id="rId20" tooltip="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5358384"/>
            <a:ext cx="621792" cy="621792"/>
          </a:xfrm>
          <a:prstGeom prst="rect">
            <a:avLst/>
          </a:prstGeom>
        </p:spPr>
      </p:pic>
      <p:sp>
        <p:nvSpPr>
          <p:cNvPr id="23" name="Text 15">
            <a:hlinkClick r:id="rId21" tooltip="" action="ppaction://hlinksldjump"/>
          </p:cNvPr>
          <p:cNvSpPr/>
          <p:nvPr/>
        </p:nvSpPr>
        <p:spPr>
          <a:xfrm>
            <a:off x="1572768" y="529437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 · Individuelle Kundenprojekte</a:t>
            </a:r>
            <a:endParaRPr lang="en-US" sz="1700" dirty="0"/>
          </a:p>
        </p:txBody>
      </p:sp>
      <p:sp>
        <p:nvSpPr>
          <p:cNvPr id="24" name="Text 16"/>
          <p:cNvSpPr/>
          <p:nvPr/>
        </p:nvSpPr>
        <p:spPr>
          <a:xfrm>
            <a:off x="1572768" y="564184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Maßgeschneiderte Softwarelösungen für Kunden jeder Branche, weltweit.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anos/d6aab909-83aa-502f-a0f9-b5c4e880bb0a/scratchpad/praesentation/assets/corner-g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1</a:t>
            </a:r>
            <a:endParaRPr lang="en-US" sz="1300" dirty="0"/>
          </a:p>
        </p:txBody>
      </p:sp>
      <p:sp>
        <p:nvSpPr>
          <p:cNvPr id="4" name="Text 1">
            <a:hlinkClick r:id="rId2" tooltip="Zur Übersicht" action="ppaction://hlinksldjump"/>
          </p:cNvPr>
          <p:cNvSpPr/>
          <p:nvPr/>
        </p:nvSpPr>
        <p:spPr>
          <a:xfrm>
            <a:off x="950976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u="sng" spc="1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Zur Übersich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ÜBERSICHT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Webseiten bearbeiten &amp; verbessern</a:t>
            </a:r>
            <a:endParaRPr lang="en-US" sz="3000" dirty="0"/>
          </a:p>
        </p:txBody>
      </p:sp>
      <p:pic>
        <p:nvPicPr>
          <p:cNvPr id="6" name="Image 1" descr="/tmp/claude-0/-home-user-Thanos/d6aab909-83aa-502f-a0f9-b5c4e880bb0a/scratchpad/praesentation/assets/icon-w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502920"/>
            <a:ext cx="228600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bestehende Webseiten werden im vereinbarten Umfang überarbeitet und spürbar verbessert – schnell, effizient und ohne lange Ausfallzeiten.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69748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040B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0080" y="27706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E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3–6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64008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WERKTAGE UMSETZUNG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0" y="269748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Nutzerführung modernisieren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Ladezeiten &amp; technische Performance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Inhalte prüfen, aktualisieren, ergänzen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Darstellung &amp; Responsivität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Grundlegende SEO-Optimierung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D4AF37"/>
          </a:solidFill>
          <a:ln w="19050">
            <a:solidFill>
              <a:srgbClr val="040B1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207008" y="4960620"/>
            <a:ext cx="2606040" cy="0"/>
          </a:xfrm>
          <a:prstGeom prst="line">
            <a:avLst/>
          </a:prstGeom>
          <a:noFill/>
          <a:ln w="25400">
            <a:solidFill>
              <a:srgbClr val="8A6A1E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320040" y="5303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20040" y="56052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1–2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886200" y="4709160"/>
            <a:ext cx="502920" cy="502920"/>
          </a:xfrm>
          <a:prstGeom prst="ellipse">
            <a:avLst/>
          </a:prstGeom>
          <a:solidFill>
            <a:srgbClr val="D4AF37"/>
          </a:solidFill>
          <a:ln w="19050">
            <a:solidFill>
              <a:srgbClr val="040B1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88620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453128" y="4960620"/>
            <a:ext cx="2606040" cy="0"/>
          </a:xfrm>
          <a:prstGeom prst="line">
            <a:avLst/>
          </a:prstGeom>
          <a:noFill/>
          <a:ln w="25400">
            <a:solidFill>
              <a:srgbClr val="8A6A1E"/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3566160" y="5303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566160" y="56052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3–4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132320" y="4709160"/>
            <a:ext cx="502920" cy="502920"/>
          </a:xfrm>
          <a:prstGeom prst="ellipse">
            <a:avLst/>
          </a:prstGeom>
          <a:solidFill>
            <a:srgbClr val="D4AF37"/>
          </a:solidFill>
          <a:ln w="19050">
            <a:solidFill>
              <a:srgbClr val="040B1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13232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812280" y="5303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Go-Live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812280" y="56052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5–6</a:t>
            </a:r>
            <a:endParaRPr lang="en-US" sz="1100" dirty="0"/>
          </a:p>
        </p:txBody>
      </p:sp>
      <p:sp>
        <p:nvSpPr>
          <p:cNvPr id="26" name="Shape 22">
            <a:hlinkClick r:id="rId4" tooltip="Th. 2 – A.V.A.Z." action="ppaction://hlinksldjump"/>
          </p:cNvPr>
          <p:cNvSpPr/>
          <p:nvPr/>
        </p:nvSpPr>
        <p:spPr>
          <a:xfrm>
            <a:off x="9052560" y="626364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040B1F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3">
            <a:hlinkClick r:id="rId5" tooltip="Th. 2 – A.V.A.Z." action="ppaction://hlinksldjump"/>
          </p:cNvPr>
          <p:cNvSpPr/>
          <p:nvPr/>
        </p:nvSpPr>
        <p:spPr>
          <a:xfrm>
            <a:off x="9052560" y="6263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Th. 2 – A.V.A.Z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Th. 2 – A.V.A.Z.  →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anos/d6aab909-83aa-502f-a0f9-b5c4e880bb0a/scratchpad/praesentation/assets/corner-g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2</a:t>
            </a:r>
            <a:endParaRPr lang="en-US" sz="1300" dirty="0"/>
          </a:p>
        </p:txBody>
      </p:sp>
      <p:sp>
        <p:nvSpPr>
          <p:cNvPr id="4" name="Text 1">
            <a:hlinkClick r:id="rId2" tooltip="Zur Übersicht" action="ppaction://hlinksldjump"/>
          </p:cNvPr>
          <p:cNvSpPr/>
          <p:nvPr/>
        </p:nvSpPr>
        <p:spPr>
          <a:xfrm>
            <a:off x="950976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u="sng" spc="1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Zur Übersich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ÜBERSICHT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A.V.A.Z.-Zertifizierung</a:t>
            </a:r>
            <a:endParaRPr lang="en-US" sz="3000" dirty="0"/>
          </a:p>
        </p:txBody>
      </p:sp>
      <p:pic>
        <p:nvPicPr>
          <p:cNvPr id="6" name="Image 1" descr="/tmp/claude-0/-home-user-Thanos/d6aab909-83aa-502f-a0f9-b5c4e880bb0a/scratchpad/praesentation/assets/icon-certific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502920"/>
            <a:ext cx="228600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Angebote zur A.V.A.Z.-Zertifizierung werden eingeholt und der gesamte Zertifizierungsprozess begleitet – einheitlich bis zum Abschluss.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697480"/>
            <a:ext cx="2743200" cy="1417320"/>
          </a:xfrm>
          <a:prstGeom prst="roundRect">
            <a:avLst>
              <a:gd name="adj" fmla="val 7742"/>
            </a:avLst>
          </a:prstGeom>
          <a:solidFill>
            <a:srgbClr val="040B1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0080" y="27706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E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4–14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64008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 ZERTIFIZIERUNG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0" y="269748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Angebote von Zertifizierungsstellen einholen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Kosten, Umfang und Termine vergleichen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stellen &amp; Unterlagen vorbereiten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 &amp; Zertifizierung begleiten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 &amp; Ausstellung des Zertifikats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D4AF37"/>
          </a:solidFill>
          <a:ln w="19050">
            <a:solidFill>
              <a:srgbClr val="040B1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207008" y="4960620"/>
            <a:ext cx="2606040" cy="0"/>
          </a:xfrm>
          <a:prstGeom prst="line">
            <a:avLst/>
          </a:prstGeom>
          <a:noFill/>
          <a:ln w="25400">
            <a:solidFill>
              <a:srgbClr val="8A6A1E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320040" y="5303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Angebote einholen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0040" y="5605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1–3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886200" y="4709160"/>
            <a:ext cx="502920" cy="502920"/>
          </a:xfrm>
          <a:prstGeom prst="ellipse">
            <a:avLst/>
          </a:prstGeom>
          <a:solidFill>
            <a:srgbClr val="D4AF37"/>
          </a:solidFill>
          <a:ln w="19050">
            <a:solidFill>
              <a:srgbClr val="040B1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88620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453128" y="4960620"/>
            <a:ext cx="2606040" cy="0"/>
          </a:xfrm>
          <a:prstGeom prst="line">
            <a:avLst/>
          </a:prstGeom>
          <a:noFill/>
          <a:ln w="25400">
            <a:solidFill>
              <a:srgbClr val="8A6A1E"/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3566160" y="5303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Antrag &amp; Vorbereitung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566160" y="5605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4–10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132320" y="4709160"/>
            <a:ext cx="502920" cy="502920"/>
          </a:xfrm>
          <a:prstGeom prst="ellipse">
            <a:avLst/>
          </a:prstGeom>
          <a:solidFill>
            <a:srgbClr val="D4AF37"/>
          </a:solidFill>
          <a:ln w="19050">
            <a:solidFill>
              <a:srgbClr val="040B1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13232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812280" y="5303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Zertifizierung &amp; Abschluss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812280" y="5605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11–14</a:t>
            </a:r>
            <a:endParaRPr lang="en-US" sz="1100" dirty="0"/>
          </a:p>
        </p:txBody>
      </p:sp>
      <p:sp>
        <p:nvSpPr>
          <p:cNvPr id="26" name="Shape 22">
            <a:hlinkClick r:id="rId4" tooltip="Th. 3 – Akademie" action="ppaction://hlinksldjump"/>
          </p:cNvPr>
          <p:cNvSpPr/>
          <p:nvPr/>
        </p:nvSpPr>
        <p:spPr>
          <a:xfrm>
            <a:off x="9052560" y="626364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040B1F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3">
            <a:hlinkClick r:id="rId5" tooltip="Th. 3 – Akademie" action="ppaction://hlinksldjump"/>
          </p:cNvPr>
          <p:cNvSpPr/>
          <p:nvPr/>
        </p:nvSpPr>
        <p:spPr>
          <a:xfrm>
            <a:off x="9052560" y="6263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Th. 3 – Akademi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Th. 3 – Akademie  →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anos/d6aab909-83aa-502f-a0f9-b5c4e880bb0a/scratchpad/praesentation/assets/corner-g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3</a:t>
            </a:r>
            <a:endParaRPr lang="en-US" sz="1300" dirty="0"/>
          </a:p>
        </p:txBody>
      </p:sp>
      <p:sp>
        <p:nvSpPr>
          <p:cNvPr id="4" name="Text 1">
            <a:hlinkClick r:id="rId2" tooltip="Zur Übersicht" action="ppaction://hlinksldjump"/>
          </p:cNvPr>
          <p:cNvSpPr/>
          <p:nvPr/>
        </p:nvSpPr>
        <p:spPr>
          <a:xfrm>
            <a:off x="950976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u="sng" spc="1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Zur Übersich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ÜBERSICHT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Akademie – IT-Weiterbildung mit eigener SchulungsApp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eigene digitale Lernplattform für Teilnehmer und Dozenten – von der Schulung bis zur Wissenskontrolle.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73">
                <a:alpha val="18000"/>
              </a:srgbClr>
            </a:outerShdw>
          </a:effectLst>
        </p:spPr>
      </p:sp>
      <p:pic>
        <p:nvPicPr>
          <p:cNvPr id="8" name="Image 1" descr="/tmp/claude-0/-home-user-Thanos/d6aab909-83aa-502f-a0f9-b5c4e880bb0a/scratchpad/praesentation/assets/circle-w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2651760"/>
            <a:ext cx="822960" cy="822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36576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SchulungsApp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41248" y="4206240"/>
            <a:ext cx="21396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Inklusive Sniping-Funktion und direkter Google-Drive-Anbindung.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410712" y="233172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73">
                <a:alpha val="18000"/>
              </a:srgbClr>
            </a:outerShdw>
          </a:effectLst>
        </p:spPr>
      </p:sp>
      <p:pic>
        <p:nvPicPr>
          <p:cNvPr id="12" name="Image 2" descr="/tmp/claude-0/-home-user-Thanos/d6aab909-83aa-502f-a0f9-b5c4e880bb0a/scratchpad/praesentation/assets/circle-academ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2651760"/>
            <a:ext cx="822960" cy="8229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75304" y="36576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E-Mail-Plattform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611880" y="4206240"/>
            <a:ext cx="21396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Ein- &amp; Ausgang inkl. Word &amp; PowerPoint, z. B. automatischer Folienerstellung.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81344" y="233172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73">
                <a:alpha val="18000"/>
              </a:srgbClr>
            </a:outerShdw>
          </a:effectLst>
        </p:spPr>
      </p:sp>
      <p:pic>
        <p:nvPicPr>
          <p:cNvPr id="16" name="Image 3" descr="/tmp/claude-0/-home-user-Thanos/d6aab909-83aa-502f-a0f9-b5c4e880bb0a/scratchpad/praesentation/assets/circle-handbo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651760"/>
            <a:ext cx="822960" cy="8229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45936" y="36576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Zwischentests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382512" y="4206240"/>
            <a:ext cx="21396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Laufende Wissenskontrolle zur gezielten Verbesserung der Teilnehmer.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951976" y="2331720"/>
            <a:ext cx="2542032" cy="3246120"/>
          </a:xfrm>
          <a:prstGeom prst="roundRect">
            <a:avLst>
              <a:gd name="adj" fmla="val 4317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73">
                <a:alpha val="18000"/>
              </a:srgbClr>
            </a:outerShdw>
          </a:effectLst>
        </p:spPr>
      </p:sp>
      <p:pic>
        <p:nvPicPr>
          <p:cNvPr id="20" name="Image 4" descr="/tmp/claude-0/-home-user-Thanos/d6aab909-83aa-502f-a0f9-b5c4e880bb0a/scratchpad/praesentation/assets/circle-glob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2" y="2651760"/>
            <a:ext cx="822960" cy="8229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16568" y="36576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Dozenten-App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9153144" y="4206240"/>
            <a:ext cx="213969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App für alle teilnehmenden Dozenten der Akademie.</a:t>
            </a:r>
            <a:endParaRPr lang="en-US" sz="1250" dirty="0"/>
          </a:p>
        </p:txBody>
      </p:sp>
      <p:sp>
        <p:nvSpPr>
          <p:cNvPr id="23" name="Shape 16">
            <a:hlinkClick r:id="rId7" tooltip="Th. 4 – Handbücher" action="ppaction://hlinksldjump"/>
          </p:cNvPr>
          <p:cNvSpPr/>
          <p:nvPr/>
        </p:nvSpPr>
        <p:spPr>
          <a:xfrm>
            <a:off x="9052560" y="626364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040B1F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Text 17">
            <a:hlinkClick r:id="rId8" tooltip="Th. 4 – Handbücher" action="ppaction://hlinksldjump"/>
          </p:cNvPr>
          <p:cNvSpPr/>
          <p:nvPr/>
        </p:nvSpPr>
        <p:spPr>
          <a:xfrm>
            <a:off x="9052560" y="6263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Th. 4 – Handbüch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Th. 4 – Handbücher  →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anos/d6aab909-83aa-502f-a0f9-b5c4e880bb0a/scratchpad/praesentation/assets/corner-g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</a:t>
            </a:r>
            <a:endParaRPr lang="en-US" sz="1300" dirty="0"/>
          </a:p>
        </p:txBody>
      </p:sp>
      <p:sp>
        <p:nvSpPr>
          <p:cNvPr id="4" name="Text 1">
            <a:hlinkClick r:id="rId2" tooltip="Zur Übersicht" action="ppaction://hlinksldjump"/>
          </p:cNvPr>
          <p:cNvSpPr/>
          <p:nvPr/>
        </p:nvSpPr>
        <p:spPr>
          <a:xfrm>
            <a:off x="950976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u="sng" spc="1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Zur Übersich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ÜBERSICHT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Handbücher zu jedem Angebot</a:t>
            </a:r>
            <a:endParaRPr lang="en-US" sz="3000" dirty="0"/>
          </a:p>
        </p:txBody>
      </p:sp>
      <p:pic>
        <p:nvPicPr>
          <p:cNvPr id="6" name="Image 1" descr="/tmp/claude-0/-home-user-Thanos/d6aab909-83aa-502f-a0f9-b5c4e880bb0a/scratchpad/praesentation/assets/icon-hand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502920"/>
            <a:ext cx="228600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783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allen Angeboten gehört grundsätzlich ein passendes Handbuch – jeweils zugeschnitten auf die Zielgruppe.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78892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040B1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60120" y="3063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Technisches Handbuch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60120" y="350215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das Programmieren (PowerShell)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0120" y="406908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b="1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Skript- &amp; Automatisierungslogik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b="1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Aufbau, Konventionen, Fehlerbehandlung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b="1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Schritt-für-Schritt-Referenz für Entwickler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172200" y="278892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92240" y="3063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Nutzerhandbuch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92240" y="350215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Teilnehmer &amp; Anwender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92240" y="406908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Verständliche Bedienungsanleitung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 aus dem Arbeitsalltag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 für Schulung &amp; Support</a:t>
            </a:r>
            <a:endParaRPr lang="en-US" sz="1350" dirty="0"/>
          </a:p>
        </p:txBody>
      </p:sp>
      <p:sp>
        <p:nvSpPr>
          <p:cNvPr id="16" name="Shape 12">
            <a:hlinkClick r:id="rId4" tooltip="Th. 5 – Kundenprojekte" action="ppaction://hlinksldjump"/>
          </p:cNvPr>
          <p:cNvSpPr/>
          <p:nvPr/>
        </p:nvSpPr>
        <p:spPr>
          <a:xfrm>
            <a:off x="9052560" y="626364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040B1F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3">
            <a:hlinkClick r:id="rId5" tooltip="Th. 5 – Kundenprojekte" action="ppaction://hlinksldjump"/>
          </p:cNvPr>
          <p:cNvSpPr/>
          <p:nvPr/>
        </p:nvSpPr>
        <p:spPr>
          <a:xfrm>
            <a:off x="9052560" y="6263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Th. 5 – Kundenprojek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Th. 5 – Kundenprojekte  →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anos/d6aab909-83aa-502f-a0f9-b5c4e880bb0a/scratchpad/praesentation/assets/corner-g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5</a:t>
            </a:r>
            <a:endParaRPr lang="en-US" sz="1300" dirty="0"/>
          </a:p>
        </p:txBody>
      </p:sp>
      <p:sp>
        <p:nvSpPr>
          <p:cNvPr id="4" name="Text 1">
            <a:hlinkClick r:id="rId2" tooltip="Zur Übersicht" action="ppaction://hlinksldjump"/>
          </p:cNvPr>
          <p:cNvSpPr/>
          <p:nvPr/>
        </p:nvSpPr>
        <p:spPr>
          <a:xfrm>
            <a:off x="950976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u="sng" spc="1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Zur Übersich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ÜBERSICHT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Individuelle Programmierung für Kunden</a:t>
            </a:r>
            <a:endParaRPr lang="en-US" sz="3000" dirty="0"/>
          </a:p>
        </p:txBody>
      </p:sp>
      <p:pic>
        <p:nvPicPr>
          <p:cNvPr id="6" name="Image 1" descr="/tmp/claude-0/-home-user-Thanos/d6aab909-83aa-502f-a0f9-b5c4e880bb0a/scratchpad/praesentation/assets/icon-glob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502920"/>
            <a:ext cx="228600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Nahezu jede Idee lässt sich als Softwarelösung umsetzen – unabhängig von Kunde oder Fachbereich.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60604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73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96112" y="286207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6"/>
          <p:cNvSpPr/>
          <p:nvPr/>
        </p:nvSpPr>
        <p:spPr>
          <a:xfrm>
            <a:off x="896112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96112" y="3474720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Ärzte weltweit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96112" y="3840480"/>
            <a:ext cx="2825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Lösungen für medizinische Praxen und Kliniken.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297680" y="260604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73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53712" y="286207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1"/>
          <p:cNvSpPr/>
          <p:nvPr/>
        </p:nvSpPr>
        <p:spPr>
          <a:xfrm>
            <a:off x="4553712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553712" y="3474720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Bauingenieure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53712" y="3840480"/>
            <a:ext cx="2825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Fachspezifische Software für Planung und Projektabwicklung.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955280" y="260604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3A73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11312" y="286207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6"/>
          <p:cNvSpPr/>
          <p:nvPr/>
        </p:nvSpPr>
        <p:spPr>
          <a:xfrm>
            <a:off x="8211312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8211312" y="3474720"/>
            <a:ext cx="2825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Weitere Branchen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211312" y="3840480"/>
            <a:ext cx="2825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Individuelle Programme für nahezu jedes Themengebiet.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040B1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60120" y="489204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6E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„Fast immer möglich": maßgeschneiderte Programmierung – flexibel, fachübergreifend, weltweit einsetzbar.</a:t>
            </a:r>
            <a:endParaRPr lang="en-US" sz="1700" dirty="0"/>
          </a:p>
        </p:txBody>
      </p:sp>
      <p:sp>
        <p:nvSpPr>
          <p:cNvPr id="25" name="Shape 21">
            <a:hlinkClick r:id="rId4" tooltip="Zusammenfassung" action="ppaction://hlinksldjump"/>
          </p:cNvPr>
          <p:cNvSpPr/>
          <p:nvPr/>
        </p:nvSpPr>
        <p:spPr>
          <a:xfrm>
            <a:off x="9052560" y="626364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040B1F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6" name="Text 22">
            <a:hlinkClick r:id="rId5" tooltip="Zusammenfassung" action="ppaction://hlinksldjump"/>
          </p:cNvPr>
          <p:cNvSpPr/>
          <p:nvPr/>
        </p:nvSpPr>
        <p:spPr>
          <a:xfrm>
            <a:off x="9052560" y="6263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Zusammenfassu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Zusammenfassung  →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anos/d6aab909-83aa-502f-a0f9-b5c4e880bb0a/scratchpad/praesentation/assets/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1300" dirty="0"/>
          </a:p>
        </p:txBody>
      </p:sp>
      <p:sp>
        <p:nvSpPr>
          <p:cNvPr id="4" name="Text 1">
            <a:hlinkClick r:id="rId2" tooltip="Zur Übersicht" action="ppaction://hlinksldjump"/>
          </p:cNvPr>
          <p:cNvSpPr/>
          <p:nvPr/>
        </p:nvSpPr>
        <p:spPr>
          <a:xfrm>
            <a:off x="9509760" y="502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u="sng" spc="1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Zur Übersich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ÜBERSICHT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Nächste Schritte</a:t>
            </a:r>
            <a:endParaRPr lang="en-US" sz="3200" dirty="0"/>
          </a:p>
        </p:txBody>
      </p:sp>
      <p:sp>
        <p:nvSpPr>
          <p:cNvPr id="6" name="Shape 3">
            <a:hlinkClick r:id="rId3" tooltip="Webseiten-Relaunch starten" action="ppaction://hlinksldjump"/>
          </p:cNvPr>
          <p:cNvSpPr/>
          <p:nvPr/>
        </p:nvSpPr>
        <p:spPr>
          <a:xfrm>
            <a:off x="548640" y="1581912"/>
            <a:ext cx="1106424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1627632"/>
            <a:ext cx="438912" cy="43891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627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53312" y="1609344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Webseiten-Relaunch starten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03920" y="160934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Werktage</a:t>
            </a:r>
            <a:endParaRPr lang="en-US" sz="1250" dirty="0"/>
          </a:p>
        </p:txBody>
      </p:sp>
      <p:sp>
        <p:nvSpPr>
          <p:cNvPr id="11" name="Shape 8">
            <a:hlinkClick r:id="rId4" tooltip="A.V.A.Z.-Zertifizierung: Angebote einholen" action="ppaction://hlinksldjump"/>
          </p:cNvPr>
          <p:cNvSpPr/>
          <p:nvPr/>
        </p:nvSpPr>
        <p:spPr>
          <a:xfrm>
            <a:off x="548640" y="2221992"/>
            <a:ext cx="1106424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2267712"/>
            <a:ext cx="438912" cy="43891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2677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53312" y="2249424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A.V.A.Z.-Zertifizierung: Angebote einholen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503920" y="224942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4–14 Wochen</a:t>
            </a:r>
            <a:endParaRPr lang="en-US" sz="1250" dirty="0"/>
          </a:p>
        </p:txBody>
      </p:sp>
      <p:sp>
        <p:nvSpPr>
          <p:cNvPr id="16" name="Shape 13">
            <a:hlinkClick r:id="rId5" tooltip="Akademie-Plattform &amp; SchulungsApp konzipieren" action="ppaction://hlinksldjump"/>
          </p:cNvPr>
          <p:cNvSpPr/>
          <p:nvPr/>
        </p:nvSpPr>
        <p:spPr>
          <a:xfrm>
            <a:off x="548640" y="2862072"/>
            <a:ext cx="1106424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85800" y="2907792"/>
            <a:ext cx="438912" cy="43891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2907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53312" y="2889504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Akademie-Plattform &amp; SchulungsApp konzipieren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03920" y="288950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folgt</a:t>
            </a:r>
            <a:endParaRPr lang="en-US" sz="1250" dirty="0"/>
          </a:p>
        </p:txBody>
      </p:sp>
      <p:sp>
        <p:nvSpPr>
          <p:cNvPr id="21" name="Shape 18">
            <a:hlinkClick r:id="rId6" tooltip="Handbücher (technisch &amp; Nutzer) erstellen" action="ppaction://hlinksldjump"/>
          </p:cNvPr>
          <p:cNvSpPr/>
          <p:nvPr/>
        </p:nvSpPr>
        <p:spPr>
          <a:xfrm>
            <a:off x="548640" y="3502152"/>
            <a:ext cx="1106424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85800" y="3547872"/>
            <a:ext cx="438912" cy="43891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547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53312" y="3529584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Handbücher (technisch &amp; Nutzer) erstellen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03920" y="352958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begleitend</a:t>
            </a:r>
            <a:endParaRPr lang="en-US" sz="1250" dirty="0"/>
          </a:p>
        </p:txBody>
      </p:sp>
      <p:sp>
        <p:nvSpPr>
          <p:cNvPr id="26" name="Shape 23">
            <a:hlinkClick r:id="rId7" tooltip="Kundenanfragen für individuelle Projekte aufnehmen" action="ppaction://hlinksldjump"/>
          </p:cNvPr>
          <p:cNvSpPr/>
          <p:nvPr/>
        </p:nvSpPr>
        <p:spPr>
          <a:xfrm>
            <a:off x="548640" y="4142232"/>
            <a:ext cx="1106424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85800" y="4187952"/>
            <a:ext cx="438912" cy="43891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41879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0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353312" y="4169664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Kundenanfragen für individuelle Projekte aufnehmen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503920" y="416966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6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laufend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85800" y="4992624"/>
            <a:ext cx="10607040" cy="0"/>
          </a:xfrm>
          <a:prstGeom prst="line">
            <a:avLst/>
          </a:prstGeom>
          <a:noFill/>
          <a:ln w="12700">
            <a:solidFill>
              <a:srgbClr val="8A6A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5193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E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 für Ihre Zeit.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640080" y="572414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ticket-world@gmx.net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2026-07-29T20:37:08Z</dcterms:created>
  <dcterms:modified xsi:type="dcterms:W3CDTF">2026-07-29T20:37:08Z</dcterms:modified>
</cp:coreProperties>
</file>